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79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Geometric Observatory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0">
                <a:solidFill>
                  <a:srgbClr val="C9A84C"/>
                </a:solidFill>
                <a:latin typeface="Calibri"/>
              </a:defRPr>
            </a:pPr>
            <a:r>
              <a:t>for Financial Crisis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9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22 instruments  |  17 crises  |  27 years of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1B2A4A"/>
                </a:solidFill>
                <a:latin typeface="Calibri"/>
              </a:defRPr>
            </a:pPr>
            <a:r>
              <a:t>Can you detect financial crises early by measuring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the geometry of market returns?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We built 22 geometric observables inspired by quantum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information theory and tested them alongside 14 traditional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methods across 17 historical crises spanning 27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Observatory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1B2A4A"/>
                </a:solidFill>
                <a:latin typeface="Calibri"/>
              </a:defRPr>
            </a:pPr>
            <a:r>
              <a:t>A single weather sensor catches one type of event.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A modern weather station has many instruments.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Our 22 geometric channels span five families:</a:t>
            </a:r>
          </a:p>
          <a:p>
            <a:pPr algn="l" lvl="1">
              <a:defRPr sz="1800" b="0">
                <a:solidFill>
                  <a:srgbClr val="2D6A6A"/>
                </a:solidFill>
                <a:latin typeface="Calibri"/>
              </a:defRPr>
            </a:pPr>
            <a:r>
              <a:t>Metric  (QFI, geodesic velocity, metric condition)</a:t>
            </a:r>
          </a:p>
          <a:p>
            <a:pPr algn="l" lvl="1">
              <a:defRPr sz="1800" b="0">
                <a:solidFill>
                  <a:srgbClr val="2D6A6A"/>
                </a:solidFill>
                <a:latin typeface="Calibri"/>
              </a:defRPr>
            </a:pPr>
            <a:r>
              <a:t>Curvature  (Berry phase, sectional curvature, Ricci scalar)</a:t>
            </a:r>
          </a:p>
          <a:p>
            <a:pPr algn="l" lvl="1">
              <a:defRPr sz="1800" b="0">
                <a:solidFill>
                  <a:srgbClr val="2D6A6A"/>
                </a:solidFill>
                <a:latin typeface="Calibri"/>
              </a:defRPr>
            </a:pPr>
            <a:r>
              <a:t>Spectral  (spectral gap, entropy, complexity)</a:t>
            </a:r>
          </a:p>
          <a:p>
            <a:pPr algn="l" lvl="1">
              <a:defRPr sz="1800" b="0">
                <a:solidFill>
                  <a:srgbClr val="2D6A6A"/>
                </a:solidFill>
                <a:latin typeface="Calibri"/>
              </a:defRPr>
            </a:pPr>
            <a:r>
              <a:t>Topological  (Chern number, dimensional collapse)</a:t>
            </a:r>
          </a:p>
          <a:p>
            <a:pPr algn="l" lvl="1">
              <a:defRPr sz="1800" b="0">
                <a:solidFill>
                  <a:srgbClr val="2D6A6A"/>
                </a:solidFill>
                <a:latin typeface="Calibri"/>
              </a:defRPr>
            </a:pPr>
            <a:r>
              <a:t>Information  (purity, fidelity, Hamiltonian sensitivity)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 Tested</a:t>
            </a:r>
          </a:p>
        </p:txBody>
      </p:sp>
      <p:pic>
        <p:nvPicPr>
          <p:cNvPr id="4" name="Picture 3" descr="crisis_timelin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6413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9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17 crises from 1997 (Asian Crisis) to 2024 (Carry Unwind) — 36 total methods: 22 geometric + 14 baselines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Finding 1: The Geometric Methods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C9A84C"/>
                </a:solidFill>
                <a:latin typeface="Calibri"/>
              </a:defRPr>
            </a:pPr>
            <a:r>
              <a:t>Reduced Purity #1 (d = 0.834)  |  8 of top 10 are geometric  |  Random Forest dropped from #1 to #17</a:t>
            </a:r>
          </a:p>
        </p:txBody>
      </p:sp>
      <p:pic>
        <p:nvPicPr>
          <p:cNvPr id="5" name="Picture 4" descr="ranked_methods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17715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Consistent Are the Top Methods?</a:t>
            </a:r>
          </a:p>
        </p:txBody>
      </p:sp>
      <p:pic>
        <p:nvPicPr>
          <p:cNvPr id="4" name="Picture 3" descr="effect_sizes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66357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9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Violin plots: distribution of Cohen's d across 17 crises. Wide = inconsistent. Narrow = reliable.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Finding 2: No Single Winner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C9A84C"/>
                </a:solidFill>
                <a:latin typeface="Calibri"/>
              </a:defRPr>
            </a:pPr>
            <a:r>
              <a:t>14 different methods win across 17 crises</a:t>
            </a:r>
          </a:p>
        </p:txBody>
      </p:sp>
      <p:pic>
        <p:nvPicPr>
          <p:cNvPr id="5" name="Picture 4" descr="crisis_heatmap_36x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10834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Each Crisis Has a Different Geometric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1B2A4A"/>
                </a:solidFill>
                <a:latin typeface="Calibri"/>
              </a:defRPr>
            </a:pPr>
            <a:r>
              <a:t>2008 GFC  →  VIX Level wins (d = 4.5) — obvious vol spike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2018 Volmageddon  →  Hamiltonian Sensitivity (d = 1.7) — subtle structural shift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2021 Meme/Archegos  →  Dim. Collapse (d = 1.7) — hidden stress under calm surface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2016 Brexit  →  Speed Limit Ratio (d = 1.2) — rapid state transition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2022 Rate Hikes  →  Reduced Purity (d = 1.3) — prolonged regime change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Each geometric channel is like a different wavelength of light —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some crises are 'visible' only in certain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Finding 3: Fusion Beats 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C9A84C"/>
                </a:solidFill>
                <a:latin typeface="Calibri"/>
              </a:defRPr>
            </a:pPr>
            <a:r>
              <a:t>Regime-Adaptive fusion (d = 0.774) — top fusion, less variance than any individual champion</a:t>
            </a:r>
          </a:p>
        </p:txBody>
      </p:sp>
      <p:pic>
        <p:nvPicPr>
          <p:cNvPr id="5" name="Picture 4" descr="f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6635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Generalization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C9A84C"/>
                </a:solidFill>
                <a:latin typeface="Calibri"/>
              </a:defRPr>
            </a:pPr>
            <a:r>
              <a:t>Train on 15 crises, hold out 4 post-2020 crises</a:t>
            </a:r>
          </a:p>
        </p:txBody>
      </p:sp>
      <p:pic>
        <p:nvPicPr>
          <p:cNvPr id="5" name="Picture 4" descr="holdout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7597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99"/>
              </a:spcAft>
              <a:defRPr sz="1500" b="0">
                <a:solidFill>
                  <a:srgbClr val="8B2252"/>
                </a:solidFill>
                <a:latin typeface="Calibri"/>
              </a:defRPr>
            </a:pPr>
            <a:r>
              <a:t>Regime-Adaptive +1.1%  |  Reduced Purity −59%  |  The combination is more robust than any part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Early Warning: Lead Times</a:t>
            </a:r>
          </a:p>
        </p:txBody>
      </p:sp>
      <p:pic>
        <p:nvPicPr>
          <p:cNvPr id="4" name="Picture 3" descr="lead_tim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14173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9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Many geometric methods detect crises 150–200+ days in advance — not just classification, actual early warning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It Looks Like: 2008 Global Financial Crisis</a:t>
            </a:r>
          </a:p>
        </p:txBody>
      </p:sp>
      <p:pic>
        <p:nvPicPr>
          <p:cNvPr id="4" name="Picture 3" descr="narrative_2008_g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24147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9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8 detectors showing real-time signals through GFC. Gold band = crisis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It Looks Like: 2020 COVID Crash</a:t>
            </a:r>
          </a:p>
        </p:txBody>
      </p:sp>
      <p:pic>
        <p:nvPicPr>
          <p:cNvPr id="4" name="Picture 3" descr="narrative_2020_co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24137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9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Same 8 detectors, different crisis — different channels activate for different failure modes.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1B2A4A"/>
                </a:solidFill>
                <a:latin typeface="Calibri"/>
              </a:defRPr>
            </a:pPr>
            <a:r>
              <a:t>For finance: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Exploitable geometric structure in markets that vol-based methods miss entirely.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For the field: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The 'one model to rule them all' approach is wrong for crisis detection.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Adaptive fusion across channels is the way forward.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For quantum-inspired methods: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Hilbert space representation produces observables that are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both interpretable and empirically useful.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Honest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1B2A4A"/>
                </a:solidFill>
                <a:latin typeface="Calibri"/>
              </a:defRPr>
            </a:pPr>
            <a:r>
              <a:t>Median QCML ≈ median baselines (0.326 vs 0.352).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The top geometric methods are exceptional; the average is comparable.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Fusion Friedman test is non-significant (p = 0.538).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No fusion method statistically dominates. The case is about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  consistency and generalization, not raw dominance.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Lead times are noisy — some early detections may be false positives.</a:t>
            </a: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</a:p>
          <a:p>
            <a:pPr algn="l">
              <a:defRPr sz="2200" b="0">
                <a:solidFill>
                  <a:srgbClr val="1B2A4A"/>
                </a:solidFill>
                <a:latin typeface="Calibri"/>
              </a:defRPr>
            </a:pPr>
            <a:r>
              <a:t>Historical data only — no live forward test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